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 Bold" charset="1" panose="00000800000000000000"/>
      <p:regular r:id="rId12"/>
    </p:embeddedFont>
    <p:embeddedFont>
      <p:font typeface="Poppins" charset="1" panose="00000500000000000000"/>
      <p:regular r:id="rId13"/>
    </p:embeddedFont>
    <p:embeddedFont>
      <p:font typeface="Calibri (MS)" charset="1" panose="020F050202020403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29000">
              <a:srgbClr val="00A86B">
                <a:alpha val="100000"/>
              </a:srgbClr>
            </a:gs>
            <a:gs pos="51000">
              <a:srgbClr val="355E3B">
                <a:alpha val="100000"/>
              </a:srgbClr>
            </a:gs>
            <a:gs pos="73000">
              <a:srgbClr val="000000">
                <a:alpha val="100000"/>
              </a:srgbClr>
            </a:gs>
          </a:gsLst>
          <a:lin ang="30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0" y="243678"/>
            <a:ext cx="17449800" cy="9700422"/>
            <a:chOff x="0" y="0"/>
            <a:chExt cx="23266400" cy="129338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66400" cy="12933934"/>
            </a:xfrm>
            <a:custGeom>
              <a:avLst/>
              <a:gdLst/>
              <a:ahLst/>
              <a:cxnLst/>
              <a:rect r="r" b="b" t="t" l="l"/>
              <a:pathLst>
                <a:path h="12933934" w="23266400">
                  <a:moveTo>
                    <a:pt x="0" y="2155698"/>
                  </a:moveTo>
                  <a:cubicBezTo>
                    <a:pt x="0" y="965073"/>
                    <a:pt x="939673" y="0"/>
                    <a:pt x="2098929" y="0"/>
                  </a:cubicBezTo>
                  <a:lnTo>
                    <a:pt x="21167471" y="0"/>
                  </a:lnTo>
                  <a:cubicBezTo>
                    <a:pt x="22326727" y="0"/>
                    <a:pt x="23266400" y="965073"/>
                    <a:pt x="23266400" y="2155698"/>
                  </a:cubicBezTo>
                  <a:lnTo>
                    <a:pt x="23266400" y="10778236"/>
                  </a:lnTo>
                  <a:cubicBezTo>
                    <a:pt x="23266400" y="11968861"/>
                    <a:pt x="22326727" y="12933934"/>
                    <a:pt x="21167471" y="12933934"/>
                  </a:cubicBezTo>
                  <a:lnTo>
                    <a:pt x="2098929" y="12933934"/>
                  </a:lnTo>
                  <a:cubicBezTo>
                    <a:pt x="939673" y="12933934"/>
                    <a:pt x="0" y="11968734"/>
                    <a:pt x="0" y="107782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417512" y="6291301"/>
            <a:ext cx="13444957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2000" spc="1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Name:                   </a:t>
            </a:r>
            <a:r>
              <a:rPr lang="en-US" sz="2000" spc="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codeBlooded</a:t>
            </a:r>
          </a:p>
          <a:p>
            <a:pPr algn="l">
              <a:lnSpc>
                <a:spcPts val="4200"/>
              </a:lnSpc>
            </a:pPr>
            <a:r>
              <a:rPr lang="en-US" b="true" sz="2000" spc="1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College Name:               </a:t>
            </a:r>
            <a:r>
              <a:rPr lang="en-US" sz="2000" spc="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RV Institute of Technology and Management, Karnataka</a:t>
            </a:r>
          </a:p>
          <a:p>
            <a:pPr algn="l">
              <a:lnSpc>
                <a:spcPts val="4200"/>
              </a:lnSpc>
            </a:pPr>
            <a:r>
              <a:rPr lang="en-US" b="true" sz="2000" spc="1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Track:                                   </a:t>
            </a:r>
            <a:r>
              <a:rPr lang="en-US" sz="2000" spc="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 Innovation</a:t>
            </a:r>
          </a:p>
          <a:p>
            <a:pPr algn="l">
              <a:lnSpc>
                <a:spcPts val="4200"/>
              </a:lnSpc>
            </a:pPr>
            <a:r>
              <a:rPr lang="en-US" b="true" sz="2000" spc="1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members:           </a:t>
            </a:r>
            <a:r>
              <a:rPr lang="en-US" sz="2000" spc="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 Team Member’s names]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19800" y="2261911"/>
            <a:ext cx="5015560" cy="1495654"/>
            <a:chOff x="0" y="0"/>
            <a:chExt cx="6687414" cy="1994205"/>
          </a:xfrm>
        </p:grpSpPr>
        <p:sp>
          <p:nvSpPr>
            <p:cNvPr name="Freeform 6" id="6" descr="2026  AI-generated content may be incorrect."/>
            <p:cNvSpPr/>
            <p:nvPr/>
          </p:nvSpPr>
          <p:spPr>
            <a:xfrm flipH="false" flipV="false" rot="0">
              <a:off x="0" y="0"/>
              <a:ext cx="6687439" cy="1994154"/>
            </a:xfrm>
            <a:custGeom>
              <a:avLst/>
              <a:gdLst/>
              <a:ahLst/>
              <a:cxnLst/>
              <a:rect r="r" b="b" t="t" l="l"/>
              <a:pathLst>
                <a:path h="1994154" w="6687439">
                  <a:moveTo>
                    <a:pt x="0" y="0"/>
                  </a:moveTo>
                  <a:lnTo>
                    <a:pt x="6687439" y="0"/>
                  </a:lnTo>
                  <a:lnTo>
                    <a:pt x="6687439" y="1994154"/>
                  </a:lnTo>
                  <a:lnTo>
                    <a:pt x="0" y="199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t="0" r="-41" b="-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529147" y="599821"/>
            <a:ext cx="1828800" cy="1606382"/>
            <a:chOff x="0" y="0"/>
            <a:chExt cx="2438400" cy="2141842"/>
          </a:xfrm>
        </p:grpSpPr>
        <p:sp>
          <p:nvSpPr>
            <p:cNvPr name="Freeform 8" id="8" descr="The image features the logo of the Shree Devi Technology, Mangaluru Institute, symbolizing a technological engineering focus.  AI-generated content may be incorrect."/>
            <p:cNvSpPr/>
            <p:nvPr/>
          </p:nvSpPr>
          <p:spPr>
            <a:xfrm flipH="false" flipV="false" rot="0">
              <a:off x="0" y="0"/>
              <a:ext cx="2438400" cy="2141855"/>
            </a:xfrm>
            <a:custGeom>
              <a:avLst/>
              <a:gdLst/>
              <a:ahLst/>
              <a:cxnLst/>
              <a:rect r="r" b="b" t="t" l="l"/>
              <a:pathLst>
                <a:path h="214185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141855"/>
                  </a:lnTo>
                  <a:lnTo>
                    <a:pt x="0" y="2141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130040" y="878462"/>
            <a:ext cx="9189720" cy="133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SHREE DEVI INSTITUTE OF TECHNOLOGY</a:t>
            </a:r>
          </a:p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(ACCREDITED BY NAAC)</a:t>
            </a:r>
          </a:p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(AFFILIATED TO VISVESVARAYA TECHNOLOGICAL UNIVERSITY &amp; RECOGNIZED BY AICTE)</a:t>
            </a:r>
          </a:p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KENJAR,MANGALURU - 574142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721002" y="957006"/>
            <a:ext cx="1601042" cy="1003428"/>
            <a:chOff x="0" y="0"/>
            <a:chExt cx="1739900" cy="10904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9900" cy="1090455"/>
            </a:xfrm>
            <a:custGeom>
              <a:avLst/>
              <a:gdLst/>
              <a:ahLst/>
              <a:cxnLst/>
              <a:rect r="r" b="b" t="t" l="l"/>
              <a:pathLst>
                <a:path h="1090455" w="1739900">
                  <a:moveTo>
                    <a:pt x="0" y="0"/>
                  </a:moveTo>
                  <a:lnTo>
                    <a:pt x="1739900" y="0"/>
                  </a:lnTo>
                  <a:lnTo>
                    <a:pt x="1739900" y="1090455"/>
                  </a:lnTo>
                  <a:lnTo>
                    <a:pt x="0" y="1090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549" t="-207159" r="-14297" b="-166853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322044" y="1028700"/>
            <a:ext cx="1937256" cy="818282"/>
          </a:xfrm>
          <a:custGeom>
            <a:avLst/>
            <a:gdLst/>
            <a:ahLst/>
            <a:cxnLst/>
            <a:rect r="r" b="b" t="t" l="l"/>
            <a:pathLst>
              <a:path h="818282" w="1937256">
                <a:moveTo>
                  <a:pt x="0" y="0"/>
                </a:moveTo>
                <a:lnTo>
                  <a:pt x="1937256" y="0"/>
                </a:lnTo>
                <a:lnTo>
                  <a:pt x="1937256" y="818282"/>
                </a:lnTo>
                <a:lnTo>
                  <a:pt x="0" y="8182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99" t="0" r="-1618" b="-4128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59650" y="1034335"/>
            <a:ext cx="1969496" cy="737354"/>
            <a:chOff x="0" y="0"/>
            <a:chExt cx="2260600" cy="8463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0600" cy="846339"/>
            </a:xfrm>
            <a:custGeom>
              <a:avLst/>
              <a:gdLst/>
              <a:ahLst/>
              <a:cxnLst/>
              <a:rect r="r" b="b" t="t" l="l"/>
              <a:pathLst>
                <a:path h="846339" w="2260600">
                  <a:moveTo>
                    <a:pt x="0" y="0"/>
                  </a:moveTo>
                  <a:lnTo>
                    <a:pt x="2260600" y="0"/>
                  </a:lnTo>
                  <a:lnTo>
                    <a:pt x="2260600" y="846339"/>
                  </a:lnTo>
                  <a:lnTo>
                    <a:pt x="0" y="84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271" r="0" b="-6271"/>
              </a:stretch>
            </a:blipFill>
          </p:spPr>
        </p:sp>
      </p:grpSp>
      <p:sp>
        <p:nvSpPr>
          <p:cNvPr id="101" name="Text 101"/>
          <p:cNvSpPr txBox="1"/>
          <p:nvPr/>
        </p:nvSpPr>
        <p:spPr>
          <a:xfrm>
            <a:off x="2414016" y="4343400"/>
            <a:ext cx="13716000" cy="12801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400"/>
              </a:lnSpc>
              <a:buNone/>
            </a:pPr>
            <a:r>
              <a:rPr lang="en-US" sz="3600" b="true" spc="16" dirty="0">
                <a:solidFill>
                  <a:srgbClr val="355E3B"/>
                </a:solidFill>
                <a:latin typeface="Poppins Bold"/>
                <a:ea typeface="Poppins Bold"/>
                <a:cs typeface="Poppins Bold"/>
                <a:sym typeface="Poppins Bold"/>
              </a:rPr>
              <a:t>Counterpart</a:t>
            </a:r>
          </a:p>
          <a:p>
            <a:pPr algn="l">
              <a:lnSpc>
                <a:spcPts val="3200"/>
              </a:lnSpc>
              <a:buNone/>
            </a:pPr>
            <a:r>
              <a:rPr lang="en-US" sz="2400" spc="16" dirty="0">
                <a:solidFill>
                  <a:srgbClr val="3D4A40"/>
                </a:solidFill>
                <a:latin typeface="Poppins"/>
                <a:ea typeface="Poppins"/>
                <a:cs typeface="Poppins"/>
                <a:sym typeface="Poppins"/>
              </a:rPr>
              <a:t>A team of AI agents that runs marketing for small businesses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29000">
              <a:srgbClr val="00A86B">
                <a:alpha val="100000"/>
              </a:srgbClr>
            </a:gs>
            <a:gs pos="51000">
              <a:srgbClr val="355E3B">
                <a:alpha val="100000"/>
              </a:srgbClr>
            </a:gs>
            <a:gs pos="73000">
              <a:srgbClr val="000000">
                <a:alpha val="100000"/>
              </a:srgbClr>
            </a:gs>
          </a:gsLst>
          <a:lin ang="30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0" y="243678"/>
            <a:ext cx="17449800" cy="9700422"/>
            <a:chOff x="0" y="0"/>
            <a:chExt cx="23266400" cy="129338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66400" cy="12933934"/>
            </a:xfrm>
            <a:custGeom>
              <a:avLst/>
              <a:gdLst/>
              <a:ahLst/>
              <a:cxnLst/>
              <a:rect r="r" b="b" t="t" l="l"/>
              <a:pathLst>
                <a:path h="12933934" w="23266400">
                  <a:moveTo>
                    <a:pt x="0" y="2155698"/>
                  </a:moveTo>
                  <a:cubicBezTo>
                    <a:pt x="0" y="965073"/>
                    <a:pt x="939673" y="0"/>
                    <a:pt x="2098929" y="0"/>
                  </a:cubicBezTo>
                  <a:lnTo>
                    <a:pt x="21167471" y="0"/>
                  </a:lnTo>
                  <a:cubicBezTo>
                    <a:pt x="22326727" y="0"/>
                    <a:pt x="23266400" y="965073"/>
                    <a:pt x="23266400" y="2155698"/>
                  </a:cubicBezTo>
                  <a:lnTo>
                    <a:pt x="23266400" y="10778236"/>
                  </a:lnTo>
                  <a:cubicBezTo>
                    <a:pt x="23266400" y="11968861"/>
                    <a:pt x="22326727" y="12933934"/>
                    <a:pt x="21167471" y="12933934"/>
                  </a:cubicBezTo>
                  <a:lnTo>
                    <a:pt x="2098929" y="12933934"/>
                  </a:lnTo>
                  <a:cubicBezTo>
                    <a:pt x="939673" y="12933934"/>
                    <a:pt x="0" y="11968734"/>
                    <a:pt x="0" y="107782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0201" y="1112815"/>
            <a:ext cx="7994494" cy="6108621"/>
            <a:chOff x="0" y="0"/>
            <a:chExt cx="10659326" cy="81448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59364" cy="8144891"/>
            </a:xfrm>
            <a:custGeom>
              <a:avLst/>
              <a:gdLst/>
              <a:ahLst/>
              <a:cxnLst/>
              <a:rect r="r" b="b" t="t" l="l"/>
              <a:pathLst>
                <a:path h="8144891" w="10659364">
                  <a:moveTo>
                    <a:pt x="0" y="0"/>
                  </a:moveTo>
                  <a:lnTo>
                    <a:pt x="10659364" y="0"/>
                  </a:lnTo>
                  <a:lnTo>
                    <a:pt x="10659364" y="8144891"/>
                  </a:lnTo>
                  <a:lnTo>
                    <a:pt x="0" y="8144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35501" y="1112815"/>
            <a:ext cx="7994494" cy="6108621"/>
            <a:chOff x="0" y="0"/>
            <a:chExt cx="10659326" cy="81448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59364" cy="8144891"/>
            </a:xfrm>
            <a:custGeom>
              <a:avLst/>
              <a:gdLst/>
              <a:ahLst/>
              <a:cxnLst/>
              <a:rect r="r" b="b" t="t" l="l"/>
              <a:pathLst>
                <a:path h="8144891" w="10659364">
                  <a:moveTo>
                    <a:pt x="0" y="0"/>
                  </a:moveTo>
                  <a:lnTo>
                    <a:pt x="10659364" y="0"/>
                  </a:lnTo>
                  <a:lnTo>
                    <a:pt x="10659364" y="8144891"/>
                  </a:lnTo>
                  <a:lnTo>
                    <a:pt x="0" y="8144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44297" y="1305849"/>
            <a:ext cx="652760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5250" spc="24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 </a:t>
            </a:r>
            <a:r>
              <a:rPr lang="en-US" b="true" sz="5250" spc="24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solutions:</a:t>
            </a:r>
            <a:r>
              <a:rPr lang="en-US" b="true" sz="5250" spc="2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86903" y="1305849"/>
            <a:ext cx="692318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5250" spc="24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16380" y="7612428"/>
            <a:ext cx="883539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5250" spc="24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 Cases: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189980" y="3734577"/>
            <a:ext cx="9449430" cy="2817846"/>
            <a:chOff x="0" y="0"/>
            <a:chExt cx="6687414" cy="1994205"/>
          </a:xfrm>
        </p:grpSpPr>
        <p:sp>
          <p:nvSpPr>
            <p:cNvPr name="Freeform 15" id="15" descr="2026  AI-generated content may be incorrect."/>
            <p:cNvSpPr/>
            <p:nvPr/>
          </p:nvSpPr>
          <p:spPr>
            <a:xfrm flipH="false" flipV="false" rot="0">
              <a:off x="0" y="0"/>
              <a:ext cx="6687439" cy="1994154"/>
            </a:xfrm>
            <a:custGeom>
              <a:avLst/>
              <a:gdLst/>
              <a:ahLst/>
              <a:cxnLst/>
              <a:rect r="r" b="b" t="t" l="l"/>
              <a:pathLst>
                <a:path h="1994154" w="6687439">
                  <a:moveTo>
                    <a:pt x="0" y="0"/>
                  </a:moveTo>
                  <a:lnTo>
                    <a:pt x="6687439" y="0"/>
                  </a:lnTo>
                  <a:lnTo>
                    <a:pt x="6687439" y="1994154"/>
                  </a:lnTo>
                  <a:lnTo>
                    <a:pt x="0" y="199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42" t="0" r="-41" b="-2"/>
              </a:stretch>
            </a:blipFill>
          </p:spPr>
        </p:sp>
      </p:grpSp>
      <p:sp>
        <p:nvSpPr>
          <p:cNvPr id="101" name="Text 101"/>
          <p:cNvSpPr txBox="1"/>
          <p:nvPr/>
        </p:nvSpPr>
        <p:spPr>
          <a:xfrm>
            <a:off x="1380744" y="2523744"/>
            <a:ext cx="7086600" cy="4114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42900" indent="-342900">
              <a:lnSpc>
                <a:spcPts val="3000"/>
              </a:lnSpc>
              <a:spcAft>
                <a:spcPts val="14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200" b="true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Agencies and freelancers: </a:t>
            </a: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too costly and slow for a shop that changes its offer every week.</a:t>
            </a:r>
          </a:p>
          <a:p>
            <a:pPr algn="l" marL="342900" indent="-342900">
              <a:lnSpc>
                <a:spcPts val="3000"/>
              </a:lnSpc>
              <a:spcAft>
                <a:spcPts val="14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200" b="true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Generic AI chatbots: </a:t>
            </a: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 prices and dates, sound robotic, and get Kannada wrong.</a:t>
            </a:r>
          </a:p>
          <a:p>
            <a:pPr algn="l" marL="342900" indent="-342900">
              <a:lnSpc>
                <a:spcPts val="3000"/>
              </a:lnSpc>
              <a:spcAft>
                <a:spcPts val="14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200" b="true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WhatsApp forwards and handwritten boards: </a:t>
            </a: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inconsistent, and no way to know what brought anyone in.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9582912" y="2523744"/>
            <a:ext cx="7086600" cy="4114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342900" indent="-342900">
              <a:lnSpc>
                <a:spcPts val="3000"/>
              </a:lnSpc>
              <a:spcAft>
                <a:spcPts val="14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200" b="true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 team of AI agents: </a:t>
            </a: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Orchestrator plans, a Writer writes, a different-model Checker verifies.</a:t>
            </a:r>
          </a:p>
          <a:p>
            <a:pPr algn="l" marL="342900" indent="-342900">
              <a:lnSpc>
                <a:spcPts val="3000"/>
              </a:lnSpc>
              <a:spcAft>
                <a:spcPts val="14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200" b="true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Locked offer facts: </a:t>
            </a: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AI can never type a price or date; the owner approves every post.</a:t>
            </a:r>
          </a:p>
          <a:p>
            <a:pPr algn="l" marL="342900" indent="-342900">
              <a:lnSpc>
                <a:spcPts val="3000"/>
              </a:lnSpc>
              <a:spcAft>
                <a:spcPts val="14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200" b="true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Native English, Kannada and Hindi </a:t>
            </a: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via Sarvam AI, plus a QR code that counts real sales.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1645920" y="8714232"/>
            <a:ext cx="14996160" cy="10058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3200"/>
              </a:lnSpc>
              <a:buNone/>
            </a:pPr>
            <a:r>
              <a:rPr lang="en-US" sz="2400" b="true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Cafés, bakeries, salons, gyms, clinics and kirana stores</a:t>
            </a:r>
          </a:p>
          <a:p>
            <a:pPr algn="ctr">
              <a:lnSpc>
                <a:spcPts val="3200"/>
              </a:lnSpc>
              <a:buNone/>
            </a:pPr>
            <a:r>
              <a:rPr lang="en-US" sz="24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Weekend offers · student deals · new-item launches · bringing regulars back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29000">
              <a:srgbClr val="00A86B">
                <a:alpha val="100000"/>
              </a:srgbClr>
            </a:gs>
            <a:gs pos="51000">
              <a:srgbClr val="355E3B">
                <a:alpha val="100000"/>
              </a:srgbClr>
            </a:gs>
            <a:gs pos="73000">
              <a:srgbClr val="000000">
                <a:alpha val="100000"/>
              </a:srgbClr>
            </a:gs>
          </a:gsLst>
          <a:lin ang="30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0" y="243678"/>
            <a:ext cx="17449800" cy="9700422"/>
            <a:chOff x="0" y="0"/>
            <a:chExt cx="23266400" cy="129338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66400" cy="12933934"/>
            </a:xfrm>
            <a:custGeom>
              <a:avLst/>
              <a:gdLst/>
              <a:ahLst/>
              <a:cxnLst/>
              <a:rect r="r" b="b" t="t" l="l"/>
              <a:pathLst>
                <a:path h="12933934" w="23266400">
                  <a:moveTo>
                    <a:pt x="0" y="2155698"/>
                  </a:moveTo>
                  <a:cubicBezTo>
                    <a:pt x="0" y="965073"/>
                    <a:pt x="939673" y="0"/>
                    <a:pt x="2098929" y="0"/>
                  </a:cubicBezTo>
                  <a:lnTo>
                    <a:pt x="21167471" y="0"/>
                  </a:lnTo>
                  <a:cubicBezTo>
                    <a:pt x="22326727" y="0"/>
                    <a:pt x="23266400" y="965073"/>
                    <a:pt x="23266400" y="2155698"/>
                  </a:cubicBezTo>
                  <a:lnTo>
                    <a:pt x="23266400" y="10778236"/>
                  </a:lnTo>
                  <a:cubicBezTo>
                    <a:pt x="23266400" y="11968861"/>
                    <a:pt x="22326727" y="12933934"/>
                    <a:pt x="21167471" y="12933934"/>
                  </a:cubicBezTo>
                  <a:lnTo>
                    <a:pt x="2098929" y="12933934"/>
                  </a:lnTo>
                  <a:cubicBezTo>
                    <a:pt x="939673" y="12933934"/>
                    <a:pt x="0" y="11968734"/>
                    <a:pt x="0" y="107782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80260" y="1128265"/>
            <a:ext cx="1020834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b="true" sz="5250" spc="24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 of the project 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419285" y="3684966"/>
            <a:ext cx="9449430" cy="2817846"/>
            <a:chOff x="0" y="0"/>
            <a:chExt cx="6687414" cy="1994205"/>
          </a:xfrm>
        </p:grpSpPr>
        <p:sp>
          <p:nvSpPr>
            <p:cNvPr name="Freeform 6" id="6" descr="2026  AI-generated content may be incorrect."/>
            <p:cNvSpPr/>
            <p:nvPr/>
          </p:nvSpPr>
          <p:spPr>
            <a:xfrm flipH="false" flipV="false" rot="0">
              <a:off x="0" y="0"/>
              <a:ext cx="6687439" cy="1994154"/>
            </a:xfrm>
            <a:custGeom>
              <a:avLst/>
              <a:gdLst/>
              <a:ahLst/>
              <a:cxnLst/>
              <a:rect r="r" b="b" t="t" l="l"/>
              <a:pathLst>
                <a:path h="1994154" w="6687439">
                  <a:moveTo>
                    <a:pt x="0" y="0"/>
                  </a:moveTo>
                  <a:lnTo>
                    <a:pt x="6687439" y="0"/>
                  </a:lnTo>
                  <a:lnTo>
                    <a:pt x="6687439" y="1994154"/>
                  </a:lnTo>
                  <a:lnTo>
                    <a:pt x="0" y="199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42" t="0" r="-41" b="-2"/>
              </a:stretch>
            </a:blipFill>
          </p:spPr>
        </p:sp>
      </p:grpSp>
      <p:sp>
        <p:nvSpPr>
          <p:cNvPr id="101" name="Text 101"/>
          <p:cNvSpPr txBox="1"/>
          <p:nvPr/>
        </p:nvSpPr>
        <p:spPr>
          <a:xfrm>
            <a:off x="2075688" y="2240280"/>
            <a:ext cx="14264640" cy="1188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300"/>
              </a:lnSpc>
              <a:buNone/>
            </a:pPr>
            <a:r>
              <a:rPr lang="en-US" sz="24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owner says the offer once, in their own words. A team of AI agents turns it into a complete campaign in English, Kannada and Hindi, checks every word against what the owner approved, and counts who walks in.</a:t>
            </a:r>
          </a:p>
        </p:txBody>
      </p:sp>
      <p:sp>
        <p:nvSpPr>
          <p:cNvPr id="102" name="Shape 102"/>
          <p:cNvSpPr/>
          <p:nvPr/>
        </p:nvSpPr>
        <p:spPr>
          <a:xfrm>
            <a:off x="2075688" y="3886200"/>
            <a:ext cx="2606040" cy="251460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>
              <a:lnSpc>
                <a:spcPts val="4000"/>
              </a:lnSpc>
              <a:buNone/>
            </a:pPr>
            <a:r>
              <a:rPr lang="en-US" sz="36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  <a:p>
            <a:pPr algn="l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400" b="true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Brief</a:t>
            </a:r>
          </a:p>
          <a:p>
            <a:pPr algn="l">
              <a:lnSpc>
                <a:spcPts val="2600"/>
              </a:lnSpc>
              <a:buNone/>
            </a:pPr>
            <a:r>
              <a:rPr lang="en-US" sz="18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Owner types or speaks the idea</a:t>
            </a:r>
          </a:p>
        </p:txBody>
      </p:sp>
      <p:sp>
        <p:nvSpPr>
          <p:cNvPr id="103" name="Shape 103"/>
          <p:cNvSpPr/>
          <p:nvPr/>
        </p:nvSpPr>
        <p:spPr>
          <a:xfrm>
            <a:off x="4983480" y="3886200"/>
            <a:ext cx="2606040" cy="251460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>
              <a:lnSpc>
                <a:spcPts val="4000"/>
              </a:lnSpc>
              <a:buNone/>
            </a:pPr>
            <a:r>
              <a:rPr lang="en-US" sz="36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  <a:p>
            <a:pPr algn="l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400" b="true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Offer</a:t>
            </a:r>
          </a:p>
          <a:p>
            <a:pPr algn="l">
              <a:lnSpc>
                <a:spcPts val="2600"/>
              </a:lnSpc>
              <a:buNone/>
            </a:pPr>
            <a:r>
              <a:rPr lang="en-US" sz="18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Agents write it as facts; owner locks it</a:t>
            </a:r>
          </a:p>
        </p:txBody>
      </p:sp>
      <p:sp>
        <p:nvSpPr>
          <p:cNvPr id="104" name="Shape 104"/>
          <p:cNvSpPr/>
          <p:nvPr/>
        </p:nvSpPr>
        <p:spPr>
          <a:xfrm>
            <a:off x="7891272" y="3886200"/>
            <a:ext cx="2606040" cy="251460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>
              <a:lnSpc>
                <a:spcPts val="4000"/>
              </a:lnSpc>
              <a:buNone/>
            </a:pPr>
            <a:r>
              <a:rPr lang="en-US" sz="36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  <a:p>
            <a:pPr algn="l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400" b="true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Posts</a:t>
            </a:r>
          </a:p>
          <a:p>
            <a:pPr algn="l">
              <a:lnSpc>
                <a:spcPts val="2600"/>
              </a:lnSpc>
              <a:buNone/>
            </a:pPr>
            <a:r>
              <a:rPr lang="en-US" sz="18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Writer drafts, Checker verifies, owner approves</a:t>
            </a:r>
          </a:p>
        </p:txBody>
      </p:sp>
      <p:sp>
        <p:nvSpPr>
          <p:cNvPr id="105" name="Shape 105"/>
          <p:cNvSpPr/>
          <p:nvPr/>
        </p:nvSpPr>
        <p:spPr>
          <a:xfrm>
            <a:off x="10799064" y="3886200"/>
            <a:ext cx="2606040" cy="251460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>
              <a:lnSpc>
                <a:spcPts val="4000"/>
              </a:lnSpc>
              <a:buNone/>
            </a:pPr>
            <a:r>
              <a:rPr lang="en-US" sz="36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  <a:p>
            <a:pPr algn="l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400" b="true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Share</a:t>
            </a:r>
          </a:p>
          <a:p>
            <a:pPr algn="l">
              <a:lnSpc>
                <a:spcPts val="2600"/>
              </a:lnSpc>
              <a:buNone/>
            </a:pPr>
            <a:r>
              <a:rPr lang="en-US" sz="18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link, QR code and WhatsApp message per post</a:t>
            </a:r>
          </a:p>
        </p:txBody>
      </p:sp>
      <p:sp>
        <p:nvSpPr>
          <p:cNvPr id="106" name="Shape 106"/>
          <p:cNvSpPr/>
          <p:nvPr/>
        </p:nvSpPr>
        <p:spPr>
          <a:xfrm>
            <a:off x="13706856" y="3886200"/>
            <a:ext cx="2606040" cy="251460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>
              <a:lnSpc>
                <a:spcPts val="4000"/>
              </a:lnSpc>
              <a:buNone/>
            </a:pPr>
            <a:r>
              <a:rPr lang="en-US" sz="36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  <a:p>
            <a:pPr algn="l">
              <a:lnSpc>
                <a:spcPts val="3000"/>
              </a:lnSpc>
              <a:spcAft>
                <a:spcPts val="600"/>
              </a:spcAft>
              <a:buNone/>
            </a:pPr>
            <a:r>
              <a:rPr lang="en-US" sz="2400" b="true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  <a:p>
            <a:pPr algn="l">
              <a:lnSpc>
                <a:spcPts val="2600"/>
              </a:lnSpc>
              <a:buNone/>
            </a:pPr>
            <a:r>
              <a:rPr lang="en-US" sz="18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Codes redeemed at the counter are counted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2075688" y="6766560"/>
            <a:ext cx="1426464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2200" b="true" spc="16" dirty="0">
                <a:solidFill>
                  <a:srgbClr val="355E3B"/>
                </a:solidFill>
                <a:latin typeface="Poppins Bold"/>
                <a:ea typeface="Poppins Bold"/>
                <a:cs typeface="Poppins Bold"/>
                <a:sym typeface="Poppins Bold"/>
              </a:rPr>
              <a:t>How the agents work together</a:t>
            </a:r>
          </a:p>
        </p:txBody>
      </p:sp>
      <p:sp>
        <p:nvSpPr>
          <p:cNvPr id="108" name="Shape 108"/>
          <p:cNvSpPr/>
          <p:nvPr/>
        </p:nvSpPr>
        <p:spPr>
          <a:xfrm>
            <a:off x="2075688" y="7315200"/>
            <a:ext cx="3154680" cy="1051560"/>
          </a:xfrm>
          <a:prstGeom prst="roundRect">
            <a:avLst>
              <a:gd name="adj" fmla="val 50000"/>
            </a:avLst>
          </a:prstGeom>
          <a:solidFill>
            <a:srgbClr val="355E3B"/>
          </a:solidFill>
          <a:ln>
            <a:noFill/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algn="ctr">
              <a:lnSpc>
                <a:spcPts val="2400"/>
              </a:lnSpc>
              <a:buNone/>
            </a:pPr>
            <a:r>
              <a:rPr lang="en-US" sz="2000" b="true" spc="16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Orchestrator</a:t>
            </a:r>
          </a:p>
          <a:p>
            <a:pPr algn="ctr">
              <a:lnSpc>
                <a:spcPts val="2000"/>
              </a:lnSpc>
              <a:buNone/>
            </a:pPr>
            <a:r>
              <a:rPr lang="en-US" sz="1500" spc="1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plans, hands off</a:t>
            </a:r>
          </a:p>
        </p:txBody>
      </p:sp>
      <p:sp>
        <p:nvSpPr>
          <p:cNvPr id="109" name="Shape 109"/>
          <p:cNvSpPr/>
          <p:nvPr/>
        </p:nvSpPr>
        <p:spPr>
          <a:xfrm>
            <a:off x="5340096" y="7662672"/>
            <a:ext cx="347472" cy="365760"/>
          </a:xfrm>
          <a:prstGeom prst="rightArrow">
            <a:avLst/>
          </a:prstGeom>
          <a:solidFill>
            <a:srgbClr val="00A8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  <p:sp>
        <p:nvSpPr>
          <p:cNvPr id="110" name="Shape 110"/>
          <p:cNvSpPr/>
          <p:nvPr/>
        </p:nvSpPr>
        <p:spPr>
          <a:xfrm>
            <a:off x="5797296" y="7315200"/>
            <a:ext cx="3154680" cy="1051560"/>
          </a:xfrm>
          <a:prstGeom prst="roundRect">
            <a:avLst>
              <a:gd name="adj" fmla="val 50000"/>
            </a:avLst>
          </a:prstGeom>
          <a:solidFill>
            <a:srgbClr val="355E3B"/>
          </a:solidFill>
          <a:ln>
            <a:noFill/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algn="ctr">
              <a:lnSpc>
                <a:spcPts val="2400"/>
              </a:lnSpc>
              <a:buNone/>
            </a:pPr>
            <a:r>
              <a:rPr lang="en-US" sz="2000" b="true" spc="16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Writer</a:t>
            </a:r>
          </a:p>
          <a:p>
            <a:pPr algn="ctr">
              <a:lnSpc>
                <a:spcPts val="2000"/>
              </a:lnSpc>
              <a:buNone/>
            </a:pPr>
            <a:r>
              <a:rPr lang="en-US" sz="1500" spc="1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writes the posts</a:t>
            </a:r>
          </a:p>
        </p:txBody>
      </p:sp>
      <p:sp>
        <p:nvSpPr>
          <p:cNvPr id="111" name="Shape 111"/>
          <p:cNvSpPr/>
          <p:nvPr/>
        </p:nvSpPr>
        <p:spPr>
          <a:xfrm>
            <a:off x="9061704" y="7662672"/>
            <a:ext cx="347472" cy="365760"/>
          </a:xfrm>
          <a:prstGeom prst="rightArrow">
            <a:avLst/>
          </a:prstGeom>
          <a:solidFill>
            <a:srgbClr val="00A8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  <p:sp>
        <p:nvSpPr>
          <p:cNvPr id="112" name="Shape 112"/>
          <p:cNvSpPr/>
          <p:nvPr/>
        </p:nvSpPr>
        <p:spPr>
          <a:xfrm>
            <a:off x="9518904" y="7315200"/>
            <a:ext cx="3154680" cy="1051560"/>
          </a:xfrm>
          <a:prstGeom prst="roundRect">
            <a:avLst>
              <a:gd name="adj" fmla="val 50000"/>
            </a:avLst>
          </a:prstGeom>
          <a:solidFill>
            <a:srgbClr val="355E3B"/>
          </a:solidFill>
          <a:ln>
            <a:noFill/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algn="ctr">
              <a:lnSpc>
                <a:spcPts val="2400"/>
              </a:lnSpc>
              <a:buNone/>
            </a:pPr>
            <a:r>
              <a:rPr lang="en-US" sz="2000" b="true" spc="16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Checker</a:t>
            </a:r>
          </a:p>
          <a:p>
            <a:pPr algn="ctr">
              <a:lnSpc>
                <a:spcPts val="2000"/>
              </a:lnSpc>
              <a:buNone/>
            </a:pPr>
            <a:r>
              <a:rPr lang="en-US" sz="1500" spc="1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different model verifies</a:t>
            </a:r>
          </a:p>
        </p:txBody>
      </p:sp>
      <p:sp>
        <p:nvSpPr>
          <p:cNvPr id="113" name="Shape 113"/>
          <p:cNvSpPr/>
          <p:nvPr/>
        </p:nvSpPr>
        <p:spPr>
          <a:xfrm>
            <a:off x="12783312" y="7662672"/>
            <a:ext cx="347472" cy="365760"/>
          </a:xfrm>
          <a:prstGeom prst="rightArrow">
            <a:avLst/>
          </a:prstGeom>
          <a:solidFill>
            <a:srgbClr val="00A8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  <p:sp>
        <p:nvSpPr>
          <p:cNvPr id="114" name="Shape 114"/>
          <p:cNvSpPr/>
          <p:nvPr/>
        </p:nvSpPr>
        <p:spPr>
          <a:xfrm>
            <a:off x="13240512" y="7315200"/>
            <a:ext cx="3154680" cy="1051560"/>
          </a:xfrm>
          <a:prstGeom prst="roundRect">
            <a:avLst>
              <a:gd name="adj" fmla="val 50000"/>
            </a:avLst>
          </a:prstGeom>
          <a:solidFill>
            <a:srgbClr val="00A86B"/>
          </a:solidFill>
          <a:ln>
            <a:noFill/>
          </a:ln>
        </p:spPr>
        <p:txBody>
          <a:bodyPr wrap="square" lIns="109728" tIns="109728" rIns="109728" bIns="109728" anchor="ctr" rtlCol="0">
            <a:noAutofit/>
          </a:bodyPr>
          <a:lstStyle/>
          <a:p>
            <a:pPr algn="ctr">
              <a:lnSpc>
                <a:spcPts val="2400"/>
              </a:lnSpc>
              <a:buNone/>
            </a:pPr>
            <a:r>
              <a:rPr lang="en-US" sz="2000" b="true" spc="16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Owner</a:t>
            </a:r>
          </a:p>
          <a:p>
            <a:pPr algn="ctr">
              <a:lnSpc>
                <a:spcPts val="2000"/>
              </a:lnSpc>
              <a:buNone/>
            </a:pPr>
            <a:r>
              <a:rPr lang="en-US" sz="1500" spc="1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approves before it goes out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29000">
              <a:srgbClr val="00A86B">
                <a:alpha val="100000"/>
              </a:srgbClr>
            </a:gs>
            <a:gs pos="51000">
              <a:srgbClr val="355E3B">
                <a:alpha val="100000"/>
              </a:srgbClr>
            </a:gs>
            <a:gs pos="73000">
              <a:srgbClr val="000000">
                <a:alpha val="100000"/>
              </a:srgbClr>
            </a:gs>
          </a:gsLst>
          <a:lin ang="30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0" y="243678"/>
            <a:ext cx="17449800" cy="9700422"/>
            <a:chOff x="0" y="0"/>
            <a:chExt cx="23266400" cy="129338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66400" cy="12933934"/>
            </a:xfrm>
            <a:custGeom>
              <a:avLst/>
              <a:gdLst/>
              <a:ahLst/>
              <a:cxnLst/>
              <a:rect r="r" b="b" t="t" l="l"/>
              <a:pathLst>
                <a:path h="12933934" w="23266400">
                  <a:moveTo>
                    <a:pt x="0" y="2155698"/>
                  </a:moveTo>
                  <a:cubicBezTo>
                    <a:pt x="0" y="965073"/>
                    <a:pt x="939673" y="0"/>
                    <a:pt x="2098929" y="0"/>
                  </a:cubicBezTo>
                  <a:lnTo>
                    <a:pt x="21167471" y="0"/>
                  </a:lnTo>
                  <a:cubicBezTo>
                    <a:pt x="22326727" y="0"/>
                    <a:pt x="23266400" y="965073"/>
                    <a:pt x="23266400" y="2155698"/>
                  </a:cubicBezTo>
                  <a:lnTo>
                    <a:pt x="23266400" y="10778236"/>
                  </a:lnTo>
                  <a:cubicBezTo>
                    <a:pt x="23266400" y="11968861"/>
                    <a:pt x="22326727" y="12933934"/>
                    <a:pt x="21167471" y="12933934"/>
                  </a:cubicBezTo>
                  <a:lnTo>
                    <a:pt x="2098929" y="12933934"/>
                  </a:lnTo>
                  <a:cubicBezTo>
                    <a:pt x="939673" y="12933934"/>
                    <a:pt x="0" y="11968734"/>
                    <a:pt x="0" y="107782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59998" y="1315579"/>
            <a:ext cx="584739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5250" spc="24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progress: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381185" y="3734577"/>
            <a:ext cx="9449430" cy="2817846"/>
            <a:chOff x="0" y="0"/>
            <a:chExt cx="6687414" cy="1994205"/>
          </a:xfrm>
        </p:grpSpPr>
        <p:sp>
          <p:nvSpPr>
            <p:cNvPr name="Freeform 6" id="6" descr="2026  AI-generated content may be incorrect."/>
            <p:cNvSpPr/>
            <p:nvPr/>
          </p:nvSpPr>
          <p:spPr>
            <a:xfrm flipH="false" flipV="false" rot="0">
              <a:off x="0" y="0"/>
              <a:ext cx="6687439" cy="1994154"/>
            </a:xfrm>
            <a:custGeom>
              <a:avLst/>
              <a:gdLst/>
              <a:ahLst/>
              <a:cxnLst/>
              <a:rect r="r" b="b" t="t" l="l"/>
              <a:pathLst>
                <a:path h="1994154" w="6687439">
                  <a:moveTo>
                    <a:pt x="0" y="0"/>
                  </a:moveTo>
                  <a:lnTo>
                    <a:pt x="6687439" y="0"/>
                  </a:lnTo>
                  <a:lnTo>
                    <a:pt x="6687439" y="1994154"/>
                  </a:lnTo>
                  <a:lnTo>
                    <a:pt x="0" y="199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42" t="0" r="-41" b="-2"/>
              </a:stretch>
            </a:blipFill>
          </p:spPr>
        </p:sp>
      </p:grpSp>
      <p:sp>
        <p:nvSpPr>
          <p:cNvPr id="101" name="Text 101"/>
          <p:cNvSpPr txBox="1"/>
          <p:nvPr/>
        </p:nvSpPr>
        <p:spPr>
          <a:xfrm>
            <a:off x="2057400" y="233172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US" sz="2400" b="true" spc="16" dirty="0">
                <a:solidFill>
                  <a:srgbClr val="355E3B"/>
                </a:solidFill>
                <a:latin typeface="Poppins Bold"/>
                <a:ea typeface="Poppins Bold"/>
                <a:cs typeface="Poppins Bold"/>
                <a:sym typeface="Poppins Bold"/>
              </a:rPr>
              <a:t>Built and working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2057400" y="2926080"/>
            <a:ext cx="8778240" cy="548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411480" indent="-411480">
              <a:lnSpc>
                <a:spcPts val="2800"/>
              </a:lnSpc>
              <a:spcAft>
                <a:spcPts val="1000"/>
              </a:spcAft>
              <a:buNone/>
            </a:pPr>
            <a:r>
              <a:rPr lang="en-US" sz="22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✓	</a:t>
            </a: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Owner sign-up from a website or Google Maps link</a:t>
            </a:r>
          </a:p>
          <a:p>
            <a:pPr algn="l" marL="411480" indent="-411480">
              <a:lnSpc>
                <a:spcPts val="2800"/>
              </a:lnSpc>
              <a:spcAft>
                <a:spcPts val="1000"/>
              </a:spcAft>
              <a:buNone/>
            </a:pPr>
            <a:r>
              <a:rPr lang="en-US" sz="22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✓	</a:t>
            </a: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Offer locked as facts; the AI never types prices</a:t>
            </a:r>
          </a:p>
          <a:p>
            <a:pPr algn="l" marL="411480" indent="-411480">
              <a:lnSpc>
                <a:spcPts val="2800"/>
              </a:lnSpc>
              <a:spcAft>
                <a:spcPts val="1000"/>
              </a:spcAft>
              <a:buNone/>
            </a:pPr>
            <a:r>
              <a:rPr lang="en-US" sz="22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✓	</a:t>
            </a: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Three-layer guard checks every post</a:t>
            </a:r>
          </a:p>
          <a:p>
            <a:pPr algn="l" marL="411480" indent="-411480">
              <a:lnSpc>
                <a:spcPts val="2800"/>
              </a:lnSpc>
              <a:spcAft>
                <a:spcPts val="1000"/>
              </a:spcAft>
              <a:buNone/>
            </a:pPr>
            <a:r>
              <a:rPr lang="en-US" sz="22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✓	</a:t>
            </a: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Orchestrator, Writer, Checker as separate agents</a:t>
            </a:r>
          </a:p>
          <a:p>
            <a:pPr algn="l" marL="411480" indent="-411480">
              <a:lnSpc>
                <a:spcPts val="2800"/>
              </a:lnSpc>
              <a:spcAft>
                <a:spcPts val="1000"/>
              </a:spcAft>
              <a:buNone/>
            </a:pPr>
            <a:r>
              <a:rPr lang="en-US" sz="22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✓	</a:t>
            </a: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Posts with real photos, share links and QR codes</a:t>
            </a:r>
          </a:p>
          <a:p>
            <a:pPr algn="l" marL="411480" indent="-411480">
              <a:lnSpc>
                <a:spcPts val="2800"/>
              </a:lnSpc>
              <a:spcAft>
                <a:spcPts val="1000"/>
              </a:spcAft>
              <a:buNone/>
            </a:pPr>
            <a:r>
              <a:rPr lang="en-US" sz="22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✓	</a:t>
            </a: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Counter codes: opened, claimed, redeemed</a:t>
            </a:r>
          </a:p>
          <a:p>
            <a:pPr algn="l" marL="411480" indent="-411480">
              <a:lnSpc>
                <a:spcPts val="2800"/>
              </a:lnSpc>
              <a:spcAft>
                <a:spcPts val="1000"/>
              </a:spcAft>
              <a:buNone/>
            </a:pPr>
            <a:r>
              <a:rPr lang="en-US" sz="22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✓	</a:t>
            </a: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Bayesian A/B tests that remember what worked</a:t>
            </a:r>
          </a:p>
          <a:p>
            <a:pPr algn="l" marL="411480" indent="-411480">
              <a:lnSpc>
                <a:spcPts val="2800"/>
              </a:lnSpc>
              <a:spcAft>
                <a:spcPts val="1000"/>
              </a:spcAft>
              <a:buNone/>
            </a:pPr>
            <a:r>
              <a:rPr lang="en-US" sz="22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✓	</a:t>
            </a: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Reviews and Instagram comments sorted by theme</a:t>
            </a:r>
          </a:p>
        </p:txBody>
      </p:sp>
      <p:sp>
        <p:nvSpPr>
          <p:cNvPr id="103" name="Shape 103"/>
          <p:cNvSpPr/>
          <p:nvPr/>
        </p:nvSpPr>
        <p:spPr>
          <a:xfrm>
            <a:off x="11292840" y="2331720"/>
            <a:ext cx="2377440" cy="233172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>
              <a:lnSpc>
                <a:spcPts val="6000"/>
              </a:lnSpc>
              <a:buNone/>
            </a:pPr>
            <a:r>
              <a:rPr lang="en-US" sz="54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71</a:t>
            </a:r>
          </a:p>
          <a:p>
            <a:pPr algn="l">
              <a:lnSpc>
                <a:spcPts val="2400"/>
              </a:lnSpc>
              <a:buNone/>
            </a:pPr>
            <a:r>
              <a:rPr lang="en-US" sz="17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automated tests passing</a:t>
            </a:r>
          </a:p>
        </p:txBody>
      </p:sp>
      <p:sp>
        <p:nvSpPr>
          <p:cNvPr id="104" name="Shape 104"/>
          <p:cNvSpPr/>
          <p:nvPr/>
        </p:nvSpPr>
        <p:spPr>
          <a:xfrm>
            <a:off x="13898880" y="2331720"/>
            <a:ext cx="2377440" cy="233172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>
              <a:lnSpc>
                <a:spcPts val="6000"/>
              </a:lnSpc>
              <a:buNone/>
            </a:pPr>
            <a:r>
              <a:rPr lang="en-US" sz="54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  <a:p>
            <a:pPr algn="l">
              <a:lnSpc>
                <a:spcPts val="2400"/>
              </a:lnSpc>
              <a:buNone/>
            </a:pPr>
            <a:r>
              <a:rPr lang="en-US" sz="17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agents running</a:t>
            </a:r>
          </a:p>
        </p:txBody>
      </p:sp>
      <p:sp>
        <p:nvSpPr>
          <p:cNvPr id="105" name="Shape 105"/>
          <p:cNvSpPr/>
          <p:nvPr/>
        </p:nvSpPr>
        <p:spPr>
          <a:xfrm>
            <a:off x="11292840" y="4937760"/>
            <a:ext cx="2377440" cy="233172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>
              <a:lnSpc>
                <a:spcPts val="6000"/>
              </a:lnSpc>
              <a:buNone/>
            </a:pPr>
            <a:r>
              <a:rPr lang="en-US" sz="54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  <a:p>
            <a:pPr algn="l">
              <a:lnSpc>
                <a:spcPts val="2400"/>
              </a:lnSpc>
              <a:buNone/>
            </a:pPr>
            <a:r>
              <a:rPr lang="en-US" sz="17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languages: English, Kannada, Hindi</a:t>
            </a:r>
          </a:p>
        </p:txBody>
      </p:sp>
      <p:sp>
        <p:nvSpPr>
          <p:cNvPr id="106" name="Shape 106"/>
          <p:cNvSpPr/>
          <p:nvPr/>
        </p:nvSpPr>
        <p:spPr>
          <a:xfrm>
            <a:off x="13898880" y="4937760"/>
            <a:ext cx="2377440" cy="233172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182880" tIns="182880" rIns="182880" bIns="182880" anchor="t" rtlCol="0">
            <a:noAutofit/>
          </a:bodyPr>
          <a:lstStyle/>
          <a:p>
            <a:pPr algn="l">
              <a:lnSpc>
                <a:spcPts val="6000"/>
              </a:lnSpc>
              <a:buNone/>
            </a:pPr>
            <a:r>
              <a:rPr lang="en-US" sz="54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₹0</a:t>
            </a:r>
          </a:p>
          <a:p>
            <a:pPr algn="l">
              <a:lnSpc>
                <a:spcPts val="2400"/>
              </a:lnSpc>
              <a:buNone/>
            </a:pPr>
            <a:r>
              <a:rPr lang="en-US" sz="17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cost on free tiers</a:t>
            </a:r>
          </a:p>
        </p:txBody>
      </p:sp>
      <p:sp>
        <p:nvSpPr>
          <p:cNvPr id="107" name="Shape 107"/>
          <p:cNvSpPr/>
          <p:nvPr/>
        </p:nvSpPr>
        <p:spPr>
          <a:xfrm>
            <a:off x="11292840" y="7818120"/>
            <a:ext cx="4983480" cy="731520"/>
          </a:xfrm>
          <a:prstGeom prst="roundRect">
            <a:avLst>
              <a:gd name="adj" fmla="val 50000"/>
            </a:avLst>
          </a:prstGeom>
          <a:solidFill>
            <a:srgbClr val="355E3B"/>
          </a:solidFill>
          <a:ln>
            <a:noFill/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ctr">
              <a:buNone/>
            </a:pPr>
            <a:r>
              <a:rPr lang="en-US" sz="1700" b="true" spc="16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Live: counterpart-three.vercel.app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29000">
              <a:srgbClr val="00A86B">
                <a:alpha val="100000"/>
              </a:srgbClr>
            </a:gs>
            <a:gs pos="51000">
              <a:srgbClr val="355E3B">
                <a:alpha val="100000"/>
              </a:srgbClr>
            </a:gs>
            <a:gs pos="73000">
              <a:srgbClr val="000000">
                <a:alpha val="100000"/>
              </a:srgbClr>
            </a:gs>
          </a:gsLst>
          <a:lin ang="30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0" y="243678"/>
            <a:ext cx="17449800" cy="9700422"/>
            <a:chOff x="0" y="0"/>
            <a:chExt cx="23266400" cy="129338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66400" cy="12933934"/>
            </a:xfrm>
            <a:custGeom>
              <a:avLst/>
              <a:gdLst/>
              <a:ahLst/>
              <a:cxnLst/>
              <a:rect r="r" b="b" t="t" l="l"/>
              <a:pathLst>
                <a:path h="12933934" w="23266400">
                  <a:moveTo>
                    <a:pt x="0" y="2155698"/>
                  </a:moveTo>
                  <a:cubicBezTo>
                    <a:pt x="0" y="965073"/>
                    <a:pt x="939673" y="0"/>
                    <a:pt x="2098929" y="0"/>
                  </a:cubicBezTo>
                  <a:lnTo>
                    <a:pt x="21167471" y="0"/>
                  </a:lnTo>
                  <a:cubicBezTo>
                    <a:pt x="22326727" y="0"/>
                    <a:pt x="23266400" y="965073"/>
                    <a:pt x="23266400" y="2155698"/>
                  </a:cubicBezTo>
                  <a:lnTo>
                    <a:pt x="23266400" y="10778236"/>
                  </a:lnTo>
                  <a:cubicBezTo>
                    <a:pt x="23266400" y="11968861"/>
                    <a:pt x="22326727" y="12933934"/>
                    <a:pt x="21167471" y="12933934"/>
                  </a:cubicBezTo>
                  <a:lnTo>
                    <a:pt x="2098929" y="12933934"/>
                  </a:lnTo>
                  <a:cubicBezTo>
                    <a:pt x="939673" y="12933934"/>
                    <a:pt x="0" y="11968734"/>
                    <a:pt x="0" y="107782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28534" y="1350248"/>
            <a:ext cx="393418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5250" spc="24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419285" y="3684966"/>
            <a:ext cx="9449430" cy="2817846"/>
            <a:chOff x="0" y="0"/>
            <a:chExt cx="6687414" cy="1994205"/>
          </a:xfrm>
        </p:grpSpPr>
        <p:sp>
          <p:nvSpPr>
            <p:cNvPr name="Freeform 6" id="6" descr="2026  AI-generated content may be incorrect."/>
            <p:cNvSpPr/>
            <p:nvPr/>
          </p:nvSpPr>
          <p:spPr>
            <a:xfrm flipH="false" flipV="false" rot="0">
              <a:off x="0" y="0"/>
              <a:ext cx="6687439" cy="1994154"/>
            </a:xfrm>
            <a:custGeom>
              <a:avLst/>
              <a:gdLst/>
              <a:ahLst/>
              <a:cxnLst/>
              <a:rect r="r" b="b" t="t" l="l"/>
              <a:pathLst>
                <a:path h="1994154" w="6687439">
                  <a:moveTo>
                    <a:pt x="0" y="0"/>
                  </a:moveTo>
                  <a:lnTo>
                    <a:pt x="6687439" y="0"/>
                  </a:lnTo>
                  <a:lnTo>
                    <a:pt x="6687439" y="1994154"/>
                  </a:lnTo>
                  <a:lnTo>
                    <a:pt x="0" y="199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42" t="0" r="-41" b="-2"/>
              </a:stretch>
            </a:blipFill>
          </p:spPr>
        </p:sp>
      </p:grpSp>
      <p:sp>
        <p:nvSpPr>
          <p:cNvPr id="101" name="Shape 101"/>
          <p:cNvSpPr/>
          <p:nvPr/>
        </p:nvSpPr>
        <p:spPr>
          <a:xfrm>
            <a:off x="2011680" y="242316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>
              <a:lnSpc>
                <a:spcPts val="3200"/>
              </a:lnSpc>
              <a:spcAft>
                <a:spcPts val="700"/>
              </a:spcAft>
              <a:buNone/>
            </a:pPr>
            <a:r>
              <a:rPr lang="en-US" sz="2600" b="true" spc="16" dirty="0">
                <a:solidFill>
                  <a:srgbClr val="355E3B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  <a:p>
            <a:pPr algn="l">
              <a:lnSpc>
                <a:spcPts val="2800"/>
              </a:lnSpc>
              <a:buNone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Next.js 15, React 19, Tailwind CSS 4</a:t>
            </a:r>
          </a:p>
        </p:txBody>
      </p:sp>
      <p:sp>
        <p:nvSpPr>
          <p:cNvPr id="102" name="Shape 102"/>
          <p:cNvSpPr/>
          <p:nvPr/>
        </p:nvSpPr>
        <p:spPr>
          <a:xfrm>
            <a:off x="5696712" y="242316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>
              <a:lnSpc>
                <a:spcPts val="3200"/>
              </a:lnSpc>
              <a:spcAft>
                <a:spcPts val="700"/>
              </a:spcAft>
              <a:buNone/>
            </a:pPr>
            <a:r>
              <a:rPr lang="en-US" sz="2600" b="true" spc="16" dirty="0">
                <a:solidFill>
                  <a:srgbClr val="355E3B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</a:t>
            </a:r>
          </a:p>
          <a:p>
            <a:pPr algn="l">
              <a:lnSpc>
                <a:spcPts val="2800"/>
              </a:lnSpc>
              <a:buNone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Python 3.12, FastAPI, Pydantic</a:t>
            </a:r>
          </a:p>
        </p:txBody>
      </p:sp>
      <p:sp>
        <p:nvSpPr>
          <p:cNvPr id="103" name="Shape 103"/>
          <p:cNvSpPr/>
          <p:nvPr/>
        </p:nvSpPr>
        <p:spPr>
          <a:xfrm>
            <a:off x="9381744" y="242316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>
              <a:lnSpc>
                <a:spcPts val="3200"/>
              </a:lnSpc>
              <a:spcAft>
                <a:spcPts val="700"/>
              </a:spcAft>
              <a:buNone/>
            </a:pPr>
            <a:r>
              <a:rPr lang="en-US" sz="2600" b="true" spc="16" dirty="0">
                <a:solidFill>
                  <a:srgbClr val="355E3B"/>
                </a:solidFill>
                <a:latin typeface="Poppins Bold"/>
                <a:ea typeface="Poppins Bold"/>
                <a:cs typeface="Poppins Bold"/>
                <a:sym typeface="Poppins Bold"/>
              </a:rPr>
              <a:t>AI agents</a:t>
            </a:r>
          </a:p>
          <a:p>
            <a:pPr algn="l">
              <a:lnSpc>
                <a:spcPts val="2800"/>
              </a:lnSpc>
              <a:buNone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Own runtime: tool registry, policy gate, hand-offs</a:t>
            </a:r>
          </a:p>
        </p:txBody>
      </p:sp>
      <p:sp>
        <p:nvSpPr>
          <p:cNvPr id="104" name="Shape 104"/>
          <p:cNvSpPr/>
          <p:nvPr/>
        </p:nvSpPr>
        <p:spPr>
          <a:xfrm>
            <a:off x="13066776" y="242316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>
              <a:lnSpc>
                <a:spcPts val="3200"/>
              </a:lnSpc>
              <a:spcAft>
                <a:spcPts val="700"/>
              </a:spcAft>
              <a:buNone/>
            </a:pPr>
            <a:r>
              <a:rPr lang="en-US" sz="2600" b="true" spc="16" dirty="0">
                <a:solidFill>
                  <a:srgbClr val="355E3B"/>
                </a:solidFill>
                <a:latin typeface="Poppins Bold"/>
                <a:ea typeface="Poppins Bold"/>
                <a:cs typeface="Poppins Bold"/>
                <a:sym typeface="Poppins Bold"/>
              </a:rPr>
              <a:t>AI models</a:t>
            </a:r>
          </a:p>
          <a:p>
            <a:pPr algn="l">
              <a:lnSpc>
                <a:spcPts val="2800"/>
              </a:lnSpc>
              <a:buNone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Groq, Cerebras, Gemini via a failover router</a:t>
            </a:r>
          </a:p>
        </p:txBody>
      </p:sp>
      <p:sp>
        <p:nvSpPr>
          <p:cNvPr id="105" name="Shape 105"/>
          <p:cNvSpPr/>
          <p:nvPr/>
        </p:nvSpPr>
        <p:spPr>
          <a:xfrm>
            <a:off x="2011680" y="502920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>
              <a:lnSpc>
                <a:spcPts val="3200"/>
              </a:lnSpc>
              <a:spcAft>
                <a:spcPts val="700"/>
              </a:spcAft>
              <a:buNone/>
            </a:pPr>
            <a:r>
              <a:rPr lang="en-US" sz="2600" b="true" spc="16" dirty="0">
                <a:solidFill>
                  <a:srgbClr val="355E3B"/>
                </a:solidFill>
                <a:latin typeface="Poppins Bold"/>
                <a:ea typeface="Poppins Bold"/>
                <a:cs typeface="Poppins Bold"/>
                <a:sym typeface="Poppins Bold"/>
              </a:rPr>
              <a:t>Indian languages</a:t>
            </a:r>
          </a:p>
          <a:p>
            <a:pPr algn="l">
              <a:lnSpc>
                <a:spcPts val="2800"/>
              </a:lnSpc>
              <a:buNone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Sarvam AI: speech to text, translation</a:t>
            </a:r>
          </a:p>
        </p:txBody>
      </p:sp>
      <p:sp>
        <p:nvSpPr>
          <p:cNvPr id="106" name="Shape 106"/>
          <p:cNvSpPr/>
          <p:nvPr/>
        </p:nvSpPr>
        <p:spPr>
          <a:xfrm>
            <a:off x="5696712" y="502920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>
              <a:lnSpc>
                <a:spcPts val="3200"/>
              </a:lnSpc>
              <a:spcAft>
                <a:spcPts val="700"/>
              </a:spcAft>
              <a:buNone/>
            </a:pPr>
            <a:r>
              <a:rPr lang="en-US" sz="2600" b="true" spc="16" dirty="0">
                <a:solidFill>
                  <a:srgbClr val="355E3B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</a:t>
            </a:r>
          </a:p>
          <a:p>
            <a:pPr algn="l">
              <a:lnSpc>
                <a:spcPts val="2800"/>
              </a:lnSpc>
              <a:buNone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Supabase Postgres, row-level security</a:t>
            </a:r>
          </a:p>
        </p:txBody>
      </p:sp>
      <p:sp>
        <p:nvSpPr>
          <p:cNvPr id="107" name="Shape 107"/>
          <p:cNvSpPr/>
          <p:nvPr/>
        </p:nvSpPr>
        <p:spPr>
          <a:xfrm>
            <a:off x="9381744" y="502920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>
              <a:lnSpc>
                <a:spcPts val="3200"/>
              </a:lnSpc>
              <a:spcAft>
                <a:spcPts val="700"/>
              </a:spcAft>
              <a:buNone/>
            </a:pPr>
            <a:r>
              <a:rPr lang="en-US" sz="2600" b="true" spc="16" dirty="0">
                <a:solidFill>
                  <a:srgbClr val="355E3B"/>
                </a:solidFill>
                <a:latin typeface="Poppins Bold"/>
                <a:ea typeface="Poppins Bold"/>
                <a:cs typeface="Poppins Bold"/>
                <a:sym typeface="Poppins Bold"/>
              </a:rPr>
              <a:t>Auth and files</a:t>
            </a:r>
          </a:p>
          <a:p>
            <a:pPr algn="l">
              <a:lnSpc>
                <a:spcPts val="2800"/>
              </a:lnSpc>
              <a:buNone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Supabase Auth and Storage</a:t>
            </a:r>
          </a:p>
        </p:txBody>
      </p:sp>
      <p:sp>
        <p:nvSpPr>
          <p:cNvPr id="108" name="Shape 108"/>
          <p:cNvSpPr/>
          <p:nvPr/>
        </p:nvSpPr>
        <p:spPr>
          <a:xfrm>
            <a:off x="13066776" y="502920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EAF6F0"/>
          </a:solidFill>
          <a:ln>
            <a:noFill/>
          </a:ln>
        </p:spPr>
        <p:txBody>
          <a:bodyPr wrap="square" lIns="201168" tIns="201168" rIns="201168" bIns="201168" anchor="t" rtlCol="0">
            <a:noAutofit/>
          </a:bodyPr>
          <a:lstStyle/>
          <a:p>
            <a:pPr algn="l">
              <a:lnSpc>
                <a:spcPts val="3200"/>
              </a:lnSpc>
              <a:spcAft>
                <a:spcPts val="700"/>
              </a:spcAft>
              <a:buNone/>
            </a:pPr>
            <a:r>
              <a:rPr lang="en-US" sz="2600" b="true" spc="16" dirty="0">
                <a:solidFill>
                  <a:srgbClr val="355E3B"/>
                </a:solidFill>
                <a:latin typeface="Poppins Bold"/>
                <a:ea typeface="Poppins Bold"/>
                <a:cs typeface="Poppins Bold"/>
                <a:sym typeface="Poppins Bold"/>
              </a:rPr>
              <a:t>Hosting</a:t>
            </a:r>
          </a:p>
          <a:p>
            <a:pPr algn="l">
              <a:lnSpc>
                <a:spcPts val="2800"/>
              </a:lnSpc>
              <a:buNone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Vercel, Render (Docker), Supabase Mumbai</a:t>
            </a:r>
          </a:p>
        </p:txBody>
      </p:sp>
      <p:sp>
        <p:nvSpPr>
          <p:cNvPr id="109" name="Shape 109"/>
          <p:cNvSpPr/>
          <p:nvPr/>
        </p:nvSpPr>
        <p:spPr>
          <a:xfrm>
            <a:off x="2011680" y="7818120"/>
            <a:ext cx="14502384" cy="777240"/>
          </a:xfrm>
          <a:prstGeom prst="roundRect">
            <a:avLst>
              <a:gd name="adj" fmla="val 50000"/>
            </a:avLst>
          </a:prstGeom>
          <a:solidFill>
            <a:srgbClr val="355E3B"/>
          </a:solidFill>
          <a:ln>
            <a:noFill/>
          </a:ln>
        </p:spPr>
        <p:txBody>
          <a:bodyPr wrap="square" lIns="91440" tIns="91440" rIns="91440" bIns="91440" anchor="ctr" rtlCol="0">
            <a:noAutofit/>
          </a:bodyPr>
          <a:lstStyle/>
          <a:p>
            <a:pPr algn="ctr">
              <a:buNone/>
            </a:pPr>
            <a:r>
              <a:rPr lang="en-US" sz="1900" b="true" spc="16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Browser  →  Next.js server  →  FastAPI + agent team  →  Supabase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29000">
              <a:srgbClr val="00A86B">
                <a:alpha val="100000"/>
              </a:srgbClr>
            </a:gs>
            <a:gs pos="51000">
              <a:srgbClr val="355E3B">
                <a:alpha val="100000"/>
              </a:srgbClr>
            </a:gs>
            <a:gs pos="73000">
              <a:srgbClr val="000000">
                <a:alpha val="100000"/>
              </a:srgbClr>
            </a:gs>
          </a:gsLst>
          <a:lin ang="30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0" y="186528"/>
            <a:ext cx="17449800" cy="9700422"/>
            <a:chOff x="0" y="0"/>
            <a:chExt cx="23266400" cy="129338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66400" cy="12933934"/>
            </a:xfrm>
            <a:custGeom>
              <a:avLst/>
              <a:gdLst/>
              <a:ahLst/>
              <a:cxnLst/>
              <a:rect r="r" b="b" t="t" l="l"/>
              <a:pathLst>
                <a:path h="12933934" w="23266400">
                  <a:moveTo>
                    <a:pt x="0" y="2155698"/>
                  </a:moveTo>
                  <a:cubicBezTo>
                    <a:pt x="0" y="965073"/>
                    <a:pt x="939673" y="0"/>
                    <a:pt x="2098929" y="0"/>
                  </a:cubicBezTo>
                  <a:lnTo>
                    <a:pt x="21167471" y="0"/>
                  </a:lnTo>
                  <a:cubicBezTo>
                    <a:pt x="22326727" y="0"/>
                    <a:pt x="23266400" y="965073"/>
                    <a:pt x="23266400" y="2155698"/>
                  </a:cubicBezTo>
                  <a:lnTo>
                    <a:pt x="23266400" y="10778236"/>
                  </a:lnTo>
                  <a:cubicBezTo>
                    <a:pt x="23266400" y="11968861"/>
                    <a:pt x="22326727" y="12933934"/>
                    <a:pt x="21167471" y="12933934"/>
                  </a:cubicBezTo>
                  <a:lnTo>
                    <a:pt x="2098929" y="12933934"/>
                  </a:lnTo>
                  <a:cubicBezTo>
                    <a:pt x="939673" y="12933934"/>
                    <a:pt x="0" y="11968734"/>
                    <a:pt x="0" y="107782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17910" y="1384917"/>
            <a:ext cx="8224957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5250" spc="24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Implementation: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419285" y="3627816"/>
            <a:ext cx="9449430" cy="2817846"/>
            <a:chOff x="0" y="0"/>
            <a:chExt cx="6687414" cy="1994205"/>
          </a:xfrm>
        </p:grpSpPr>
        <p:sp>
          <p:nvSpPr>
            <p:cNvPr name="Freeform 6" id="6" descr="2026  AI-generated content may be incorrect."/>
            <p:cNvSpPr/>
            <p:nvPr/>
          </p:nvSpPr>
          <p:spPr>
            <a:xfrm flipH="false" flipV="false" rot="0">
              <a:off x="0" y="0"/>
              <a:ext cx="6687439" cy="1994154"/>
            </a:xfrm>
            <a:custGeom>
              <a:avLst/>
              <a:gdLst/>
              <a:ahLst/>
              <a:cxnLst/>
              <a:rect r="r" b="b" t="t" l="l"/>
              <a:pathLst>
                <a:path h="1994154" w="6687439">
                  <a:moveTo>
                    <a:pt x="0" y="0"/>
                  </a:moveTo>
                  <a:lnTo>
                    <a:pt x="6687439" y="0"/>
                  </a:lnTo>
                  <a:lnTo>
                    <a:pt x="6687439" y="1994154"/>
                  </a:lnTo>
                  <a:lnTo>
                    <a:pt x="0" y="1994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42" t="0" r="-41" b="-2"/>
              </a:stretch>
            </a:blipFill>
          </p:spPr>
        </p:sp>
      </p:grpSp>
      <p:sp>
        <p:nvSpPr>
          <p:cNvPr id="101" name="Shape 101"/>
          <p:cNvSpPr/>
          <p:nvPr/>
        </p:nvSpPr>
        <p:spPr>
          <a:xfrm>
            <a:off x="1234440" y="2514600"/>
            <a:ext cx="4572000" cy="6035040"/>
          </a:xfrm>
          <a:prstGeom prst="roundRect">
            <a:avLst>
              <a:gd name="adj" fmla="val 5000"/>
            </a:avLst>
          </a:prstGeom>
          <a:solidFill>
            <a:srgbClr val="EAF6F0"/>
          </a:solidFill>
          <a:ln>
            <a:noFill/>
          </a:ln>
        </p:spPr>
        <p:txBody>
          <a:bodyPr wrap="square" lIns="256032" tIns="256032" rIns="256032" bIns="256032" anchor="t" rtlCol="0">
            <a:noAutofit/>
          </a:bodyPr>
          <a:lstStyle/>
          <a:p>
            <a:pPr algn="l">
              <a:lnSpc>
                <a:spcPts val="2200"/>
              </a:lnSpc>
              <a:spcAft>
                <a:spcPts val="300"/>
              </a:spcAft>
              <a:buNone/>
            </a:pPr>
            <a:r>
              <a:rPr lang="en-US" sz="18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NEXT</a:t>
            </a:r>
          </a:p>
          <a:p>
            <a:pPr algn="l">
              <a:lnSpc>
                <a:spcPts val="3200"/>
              </a:lnSpc>
              <a:spcAft>
                <a:spcPts val="1200"/>
              </a:spcAft>
              <a:buNone/>
            </a:pPr>
            <a:r>
              <a:rPr lang="en-US" sz="2600" b="true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More agents</a:t>
            </a:r>
          </a:p>
          <a:p>
            <a:pPr algn="l" marL="342900" indent="-342900">
              <a:lnSpc>
                <a:spcPts val="2800"/>
              </a:lnSpc>
              <a:spcAft>
                <a:spcPts val="11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Offer agent: facts and margins</a:t>
            </a:r>
          </a:p>
          <a:p>
            <a:pPr algn="l" marL="342900" indent="-342900">
              <a:lnSpc>
                <a:spcPts val="2800"/>
              </a:lnSpc>
              <a:spcAft>
                <a:spcPts val="11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Language agent on Sarvam AI</a:t>
            </a:r>
          </a:p>
          <a:p>
            <a:pPr algn="l" marL="342900" indent="-342900">
              <a:lnSpc>
                <a:spcPts val="2800"/>
              </a:lnSpc>
              <a:spcAft>
                <a:spcPts val="11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Analyst agent: results, A/B tests</a:t>
            </a:r>
          </a:p>
          <a:p>
            <a:pPr algn="l" marL="342900" indent="-342900">
              <a:lnSpc>
                <a:spcPts val="2800"/>
              </a:lnSpc>
              <a:spcAft>
                <a:spcPts val="11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Brief agent with voice input</a:t>
            </a:r>
          </a:p>
          <a:p>
            <a:pPr algn="l" marL="342900" indent="-342900">
              <a:lnSpc>
                <a:spcPts val="2800"/>
              </a:lnSpc>
              <a:spcAft>
                <a:spcPts val="11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Customer listener for reviews</a:t>
            </a:r>
          </a:p>
        </p:txBody>
      </p:sp>
      <p:sp>
        <p:nvSpPr>
          <p:cNvPr id="102" name="Shape 102"/>
          <p:cNvSpPr/>
          <p:nvPr/>
        </p:nvSpPr>
        <p:spPr>
          <a:xfrm>
            <a:off x="5897880" y="5257800"/>
            <a:ext cx="320040" cy="411480"/>
          </a:xfrm>
          <a:prstGeom prst="rightArrow">
            <a:avLst/>
          </a:prstGeom>
          <a:solidFill>
            <a:srgbClr val="00A8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  <p:sp>
        <p:nvSpPr>
          <p:cNvPr id="103" name="Shape 103"/>
          <p:cNvSpPr/>
          <p:nvPr/>
        </p:nvSpPr>
        <p:spPr>
          <a:xfrm>
            <a:off x="6309360" y="2514600"/>
            <a:ext cx="4572000" cy="6035040"/>
          </a:xfrm>
          <a:prstGeom prst="roundRect">
            <a:avLst>
              <a:gd name="adj" fmla="val 5000"/>
            </a:avLst>
          </a:prstGeom>
          <a:solidFill>
            <a:srgbClr val="EAF6F0"/>
          </a:solidFill>
          <a:ln>
            <a:noFill/>
          </a:ln>
        </p:spPr>
        <p:txBody>
          <a:bodyPr wrap="square" lIns="256032" tIns="256032" rIns="256032" bIns="256032" anchor="t" rtlCol="0">
            <a:noAutofit/>
          </a:bodyPr>
          <a:lstStyle/>
          <a:p>
            <a:pPr algn="l">
              <a:lnSpc>
                <a:spcPts val="2200"/>
              </a:lnSpc>
              <a:spcAft>
                <a:spcPts val="300"/>
              </a:spcAft>
              <a:buNone/>
            </a:pPr>
            <a:r>
              <a:rPr lang="en-US" sz="18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THEN</a:t>
            </a:r>
          </a:p>
          <a:p>
            <a:pPr algn="l">
              <a:lnSpc>
                <a:spcPts val="3200"/>
              </a:lnSpc>
              <a:spcAft>
                <a:spcPts val="1200"/>
              </a:spcAft>
              <a:buNone/>
            </a:pPr>
            <a:r>
              <a:rPr lang="en-US" sz="2600" b="true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Direct posting</a:t>
            </a:r>
          </a:p>
          <a:p>
            <a:pPr algn="l" marL="342900" indent="-342900">
              <a:lnSpc>
                <a:spcPts val="2800"/>
              </a:lnSpc>
              <a:spcAft>
                <a:spcPts val="11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Auto-post to Instagram and WhatsApp</a:t>
            </a:r>
          </a:p>
          <a:p>
            <a:pPr algn="l" marL="342900" indent="-342900">
              <a:lnSpc>
                <a:spcPts val="2800"/>
              </a:lnSpc>
              <a:spcAft>
                <a:spcPts val="11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Staff logins with redeem-only access</a:t>
            </a:r>
          </a:p>
          <a:p>
            <a:pPr algn="l" marL="342900" indent="-342900">
              <a:lnSpc>
                <a:spcPts val="2800"/>
              </a:lnSpc>
              <a:spcAft>
                <a:spcPts val="11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Owner-corrected Kannada and Hindi phrasebook</a:t>
            </a:r>
          </a:p>
        </p:txBody>
      </p:sp>
      <p:sp>
        <p:nvSpPr>
          <p:cNvPr id="104" name="Shape 104"/>
          <p:cNvSpPr/>
          <p:nvPr/>
        </p:nvSpPr>
        <p:spPr>
          <a:xfrm>
            <a:off x="10972800" y="5257800"/>
            <a:ext cx="320040" cy="411480"/>
          </a:xfrm>
          <a:prstGeom prst="rightArrow">
            <a:avLst/>
          </a:prstGeom>
          <a:solidFill>
            <a:srgbClr val="00A8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22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  <p:sp>
        <p:nvSpPr>
          <p:cNvPr id="105" name="Shape 105"/>
          <p:cNvSpPr/>
          <p:nvPr/>
        </p:nvSpPr>
        <p:spPr>
          <a:xfrm>
            <a:off x="11384280" y="2514600"/>
            <a:ext cx="4572000" cy="6035040"/>
          </a:xfrm>
          <a:prstGeom prst="roundRect">
            <a:avLst>
              <a:gd name="adj" fmla="val 5000"/>
            </a:avLst>
          </a:prstGeom>
          <a:solidFill>
            <a:srgbClr val="EAF6F0"/>
          </a:solidFill>
          <a:ln>
            <a:noFill/>
          </a:ln>
        </p:spPr>
        <p:txBody>
          <a:bodyPr wrap="square" lIns="256032" tIns="256032" rIns="256032" bIns="256032" anchor="t" rtlCol="0">
            <a:noAutofit/>
          </a:bodyPr>
          <a:lstStyle/>
          <a:p>
            <a:pPr algn="l">
              <a:lnSpc>
                <a:spcPts val="2200"/>
              </a:lnSpc>
              <a:spcAft>
                <a:spcPts val="300"/>
              </a:spcAft>
              <a:buNone/>
            </a:pPr>
            <a:r>
              <a:rPr lang="en-US" sz="1800" b="true" spc="16" dirty="0">
                <a:solidFill>
                  <a:srgbClr val="00A86B"/>
                </a:solidFill>
                <a:latin typeface="Poppins Bold"/>
                <a:ea typeface="Poppins Bold"/>
                <a:cs typeface="Poppins Bold"/>
                <a:sym typeface="Poppins Bold"/>
              </a:rPr>
              <a:t>LATER</a:t>
            </a:r>
          </a:p>
          <a:p>
            <a:pPr algn="l">
              <a:lnSpc>
                <a:spcPts val="3200"/>
              </a:lnSpc>
              <a:spcAft>
                <a:spcPts val="1200"/>
              </a:spcAft>
              <a:buNone/>
            </a:pPr>
            <a:r>
              <a:rPr lang="en-US" sz="2600" b="true" spc="1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Real shops</a:t>
            </a:r>
          </a:p>
          <a:p>
            <a:pPr algn="l" marL="342900" indent="-342900">
              <a:lnSpc>
                <a:spcPts val="2800"/>
              </a:lnSpc>
              <a:spcAft>
                <a:spcPts val="11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Pilot with 3 to 5 shops in Bengaluru</a:t>
            </a:r>
          </a:p>
          <a:p>
            <a:pPr algn="l" marL="342900" indent="-342900">
              <a:lnSpc>
                <a:spcPts val="2800"/>
              </a:lnSpc>
              <a:spcAft>
                <a:spcPts val="11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Proposed plan: ₹499 a month per business</a:t>
            </a:r>
          </a:p>
          <a:p>
            <a:pPr algn="l" marL="342900" indent="-342900">
              <a:lnSpc>
                <a:spcPts val="2800"/>
              </a:lnSpc>
              <a:spcAft>
                <a:spcPts val="1100"/>
              </a:spcAft>
              <a:buClr>
                <a:srgbClr val="00A86B"/>
              </a:buClr>
              <a:buFont typeface="Arial"/>
              <a:buChar char="•"/>
            </a:pPr>
            <a:r>
              <a:rPr lang="en-US" sz="2000" spc="1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Chains and agencies: many shops, one login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DAHYtV5uHcc</dc:identifier>
  <dcterms:modified xsi:type="dcterms:W3CDTF">2011-08-01T06:04:30Z</dcterms:modified>
  <cp:revision>1</cp:revision>
  <dc:title>nexathon-ppt-template.pptx</dc:title>
</cp:coreProperties>
</file>